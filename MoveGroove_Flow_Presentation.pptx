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91E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11274552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</a:defRPr>
            </a:pPr>
            <a:r>
              <a:t>SISTEM UNDIAN MOVE &amp; GROOVE</a:t>
            </a:r>
          </a:p>
          <a:p>
            <a:pPr algn="ctr">
              <a:defRPr sz="2800">
                <a:solidFill>
                  <a:srgbClr val="FFFFFF"/>
                </a:solidFill>
              </a:defRPr>
            </a:pPr>
            <a:r>
              <a:t>7 Desember 2024 | Panduan Alur Pengundian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9C27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74552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OVERVIEW SISTEM UNDIAN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3474720" cy="228600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554480"/>
            <a:ext cx="3474720" cy="2103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E-VOUCHER</a:t>
            </a:r>
          </a:p>
          <a:p>
            <a:pPr algn="ctr">
              <a:defRPr sz="4800" b="1">
                <a:solidFill>
                  <a:srgbClr val="FFFFFF"/>
                </a:solidFill>
              </a:defRPr>
            </a:pPr>
            <a:r>
              <a:t>700</a:t>
            </a:r>
          </a:p>
          <a:p>
            <a:pPr algn="ctr">
              <a:defRPr sz="1400">
                <a:solidFill>
                  <a:srgbClr val="FFFFFF"/>
                </a:solidFill>
              </a:defRPr>
            </a:pPr>
            <a:r>
              <a:t>4 kategori</a:t>
            </a:r>
            <a:br/>
            <a:r>
              <a:t>175 per kategori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0" y="1371600"/>
            <a:ext cx="3474720" cy="228600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1554480"/>
            <a:ext cx="3474720" cy="2103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SHUFFLE</a:t>
            </a:r>
          </a:p>
          <a:p>
            <a:pPr algn="ctr">
              <a:defRPr sz="4800" b="1">
                <a:solidFill>
                  <a:srgbClr val="FFFFFF"/>
                </a:solidFill>
              </a:defRPr>
            </a:pPr>
            <a:r>
              <a:t>90</a:t>
            </a:r>
          </a:p>
          <a:p>
            <a:pPr algn="ctr">
              <a:defRPr sz="1400">
                <a:solidFill>
                  <a:srgbClr val="FFFFFF"/>
                </a:solidFill>
              </a:defRPr>
            </a:pPr>
            <a:r>
              <a:t>3 sesi</a:t>
            </a:r>
            <a:br/>
            <a:r>
              <a:t>30 per sesi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12480" y="1371600"/>
            <a:ext cx="3474720" cy="2286000"/>
          </a:xfrm>
          <a:prstGeom prst="roundRect">
            <a:avLst/>
          </a:prstGeom>
          <a:solidFill>
            <a:srgbClr val="9C27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0" y="1554480"/>
            <a:ext cx="3474720" cy="2103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WHEEL</a:t>
            </a:r>
          </a:p>
          <a:p>
            <a:pPr algn="ctr">
              <a:defRPr sz="4800" b="1">
                <a:solidFill>
                  <a:srgbClr val="FFFFFF"/>
                </a:solidFill>
              </a:defRPr>
            </a:pPr>
            <a:r>
              <a:t>10</a:t>
            </a:r>
          </a:p>
          <a:p>
            <a:pPr algn="ctr">
              <a:defRPr sz="1400">
                <a:solidFill>
                  <a:srgbClr val="FFFFFF"/>
                </a:solidFill>
              </a:defRPr>
            </a:pPr>
            <a:r>
              <a:t>Grand Prize</a:t>
            </a:r>
            <a:br/>
            <a:r>
              <a:t>Termurah → Termahal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0" y="3931920"/>
            <a:ext cx="4873752" cy="914400"/>
          </a:xfrm>
          <a:prstGeom prst="roundRect">
            <a:avLst/>
          </a:prstGeom>
          <a:solidFill>
            <a:srgbClr val="E91E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0" y="4114800"/>
            <a:ext cx="4873752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TOTAL: 800 PEMENANG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029200"/>
            <a:ext cx="11274552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212121"/>
                </a:solidFill>
              </a:defRPr>
            </a:pPr>
            <a:r>
              <a:t>Fitur Utama:</a:t>
            </a:r>
          </a:p>
          <a:p>
            <a:pPr>
              <a:defRPr sz="1600">
                <a:solidFill>
                  <a:srgbClr val="212121"/>
                </a:solidFill>
              </a:defRPr>
            </a:pPr>
            <a:r>
              <a:t>✓ Auto-save hasil undian</a:t>
            </a:r>
          </a:p>
          <a:p>
            <a:pPr>
              <a:defRPr sz="1600">
                <a:solidFill>
                  <a:srgbClr val="212121"/>
                </a:solidFill>
              </a:defRPr>
            </a:pPr>
            <a:r>
              <a:t>✓ Backup ke Google Drive</a:t>
            </a:r>
          </a:p>
          <a:p>
            <a:pPr>
              <a:defRPr sz="1600">
                <a:solidFill>
                  <a:srgbClr val="212121"/>
                </a:solidFill>
              </a:defRPr>
            </a:pPr>
            <a:r>
              <a:t>✓ Validasi duplikat</a:t>
            </a:r>
          </a:p>
          <a:p>
            <a:pPr>
              <a:defRPr sz="1600">
                <a:solidFill>
                  <a:srgbClr val="212121"/>
                </a:solidFill>
              </a:defRPr>
            </a:pPr>
            <a:r>
              <a:t>✓ Transparansi animasi</a:t>
            </a:r>
          </a:p>
          <a:p>
            <a:pPr>
              <a:defRPr sz="1600">
                <a:solidFill>
                  <a:srgbClr val="212121"/>
                </a:solidFill>
              </a:defRPr>
            </a:pPr>
            <a:r>
              <a:t>✓ Export Excel &amp; PPT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0"/>
          </a:xfrm>
          <a:prstGeom prst="rect">
            <a:avLst/>
          </a:prstGeom>
          <a:solidFill>
            <a:srgbClr val="E91E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37160"/>
            <a:ext cx="7315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LANGKAH 1: UPLOAD DATA PESERTA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914400"/>
            <a:ext cx="7315200" cy="5486400"/>
          </a:xfrm>
          <a:prstGeom prst="roundRect">
            <a:avLst/>
          </a:prstGeom>
          <a:solidFill>
            <a:srgbClr val="F5F5F5"/>
          </a:solidFill>
          <a:ln>
            <a:solidFill>
              <a:srgbClr val="9E9E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188720"/>
            <a:ext cx="6949440" cy="548640"/>
          </a:xfrm>
          <a:prstGeom prst="roundRect">
            <a:avLst/>
          </a:prstGeom>
          <a:solidFill>
            <a:srgbClr val="E91E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0"/>
            <a:ext cx="69494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SISTEM UNDIAN MOVE &amp; GROOVE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920240"/>
            <a:ext cx="69494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600">
                <a:solidFill>
                  <a:srgbClr val="212121"/>
                </a:solidFill>
              </a:defRPr>
            </a:pPr>
            <a:r>
              <a:t>Upload data peserta undian: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2377440"/>
            <a:ext cx="2743200" cy="457200"/>
          </a:xfrm>
          <a:prstGeom prst="roundRect">
            <a:avLst/>
          </a:prstGeom>
          <a:solidFill>
            <a:srgbClr val="9E9E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46888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📁 Upload CSV File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017520"/>
            <a:ext cx="69494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>
                <a:solidFill>
                  <a:srgbClr val="212121"/>
                </a:solidFill>
              </a:defRPr>
            </a:pPr>
            <a:r>
              <a:t>atau masukkan URL Google Sheets: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3474720"/>
            <a:ext cx="5943600" cy="457200"/>
          </a:xfrm>
          <a:prstGeom prst="round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566160"/>
            <a:ext cx="5943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🔗 https://docs.google.com/spreadsheets/...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286000" y="4389120"/>
            <a:ext cx="3200400" cy="45720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286000" y="4480559"/>
            <a:ext cx="3200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✅ LOAD DATA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55279" y="914400"/>
            <a:ext cx="4023360" cy="5486400"/>
          </a:xfrm>
          <a:prstGeom prst="roundRect">
            <a:avLst/>
          </a:prstGeom>
          <a:solidFill>
            <a:srgbClr val="FFFFFF"/>
          </a:solidFill>
          <a:ln>
            <a:solidFill>
              <a:srgbClr val="9E9E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38160" y="1097280"/>
            <a:ext cx="3657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E91E63"/>
                </a:solidFill>
              </a:defRPr>
            </a:pPr>
            <a:r>
              <a:t>Keterangan: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38160" y="1554480"/>
            <a:ext cx="3657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  <a:r>
              <a:t>1. Pilih salah satu:</a:t>
            </a: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  <a:r>
              <a:t>   - Upload file CSV</a:t>
            </a: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  <a:r>
              <a:t>   - Masukkan URL Google Sheets</a:t>
            </a: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  <a:r>
              <a:t>2. Format data:</a:t>
            </a: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  <a:r>
              <a:t>   - Nomor Undian</a:t>
            </a: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  <a:r>
              <a:t>   - Nama</a:t>
            </a: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  <a:r>
              <a:t>   - No HP</a:t>
            </a: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  <a:r>
              <a:t>3. VIP/F otomatis terfilter</a:t>
            </a: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  <a:r>
              <a:t>4. Klik LOAD DATA</a:t>
            </a: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  <a:r>
              <a:t>5. Sistem menampilkan:</a:t>
            </a: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  <a:r>
              <a:t>   - Total peserta</a:t>
            </a: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  <a:r>
              <a:t>   - Peserta eligible</a:t>
            </a: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  <a:r>
              <a:t>   - Peserta VIP/F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0"/>
          </a:xfrm>
          <a:prstGeom prst="rect">
            <a:avLst/>
          </a:prstGeom>
          <a:solidFill>
            <a:srgbClr val="E91E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37160"/>
            <a:ext cx="7315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LANGKAH 2: HALAMAN UTAMA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914400"/>
            <a:ext cx="7315200" cy="5486400"/>
          </a:xfrm>
          <a:prstGeom prst="roundRect">
            <a:avLst/>
          </a:prstGeom>
          <a:solidFill>
            <a:srgbClr val="F5F5F5"/>
          </a:solidFill>
          <a:ln>
            <a:solidFill>
              <a:srgbClr val="9E9E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188720"/>
            <a:ext cx="6949440" cy="54864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0"/>
            <a:ext cx="69494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✅ 3500 peserta (3407 eligible, 93 VIP/F)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920240"/>
            <a:ext cx="2103120" cy="1097280"/>
          </a:xfrm>
          <a:prstGeom prst="roundRect">
            <a:avLst/>
          </a:prstGeom>
          <a:solidFill>
            <a:srgbClr val="FFFFFF"/>
          </a:solidFill>
          <a:ln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19" y="2103120"/>
            <a:ext cx="1920239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4CAF50"/>
                </a:solidFill>
              </a:defRPr>
            </a:pPr>
            <a:r>
              <a:t>E-VOUCHER</a:t>
            </a:r>
          </a:p>
          <a:p>
            <a:pPr algn="ctr">
              <a:defRPr sz="1000">
                <a:solidFill>
                  <a:srgbClr val="212121"/>
                </a:solidFill>
              </a:defRPr>
            </a:pPr>
            <a:r>
              <a:t>700 Hadiah</a:t>
            </a:r>
            <a:br/>
            <a:r>
              <a:t>4 Kategori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926080" y="1920240"/>
            <a:ext cx="2103120" cy="1097280"/>
          </a:xfrm>
          <a:prstGeom prst="roundRect">
            <a:avLst/>
          </a:prstGeom>
          <a:solidFill>
            <a:srgbClr val="FFFFFF"/>
          </a:solidFill>
          <a:ln>
            <a:solidFill>
              <a:srgbClr val="FF9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17520" y="2103120"/>
            <a:ext cx="1920239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FF9800"/>
                </a:solidFill>
              </a:defRPr>
            </a:pPr>
            <a:r>
              <a:t>SHUFFLE</a:t>
            </a:r>
          </a:p>
          <a:p>
            <a:pPr algn="ctr">
              <a:defRPr sz="1000">
                <a:solidFill>
                  <a:srgbClr val="212121"/>
                </a:solidFill>
              </a:defRPr>
            </a:pPr>
            <a:r>
              <a:t>90 Hadiah</a:t>
            </a:r>
            <a:br/>
            <a:r>
              <a:t>3 Sesi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212080" y="1920240"/>
            <a:ext cx="2103120" cy="1097280"/>
          </a:xfrm>
          <a:prstGeom prst="roundRect">
            <a:avLst/>
          </a:prstGeom>
          <a:solidFill>
            <a:srgbClr val="FFFFFF"/>
          </a:solidFill>
          <a:ln>
            <a:solidFill>
              <a:srgbClr val="9C27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03520" y="2103120"/>
            <a:ext cx="1920239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9C27B0"/>
                </a:solidFill>
              </a:defRPr>
            </a:pPr>
            <a:r>
              <a:t>WHEEL</a:t>
            </a:r>
          </a:p>
          <a:p>
            <a:pPr algn="ctr">
              <a:defRPr sz="1000">
                <a:solidFill>
                  <a:srgbClr val="212121"/>
                </a:solidFill>
              </a:defRPr>
            </a:pPr>
            <a:r>
              <a:t>10 Grand Prize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55279" y="914400"/>
            <a:ext cx="4023360" cy="5486400"/>
          </a:xfrm>
          <a:prstGeom prst="roundRect">
            <a:avLst/>
          </a:prstGeom>
          <a:solidFill>
            <a:srgbClr val="FFFFFF"/>
          </a:solidFill>
          <a:ln>
            <a:solidFill>
              <a:srgbClr val="9E9E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60" y="1097280"/>
            <a:ext cx="3657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E91E63"/>
                </a:solidFill>
              </a:defRPr>
            </a:pPr>
            <a:r>
              <a:t>Keterangan: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60" y="1554480"/>
            <a:ext cx="3657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  <a:r>
              <a:t>Halaman utama menampilkan:</a:t>
            </a: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  <a:r>
              <a:t>1. Status data peserta</a:t>
            </a: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  <a:r>
              <a:t>   (total, eligible, VIP/F)</a:t>
            </a: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  <a:r>
              <a:t>2. Tiga panel mode undian:</a:t>
            </a: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  <a:r>
              <a:t>   - E-VOUCHER (hijau)</a:t>
            </a: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  <a:r>
              <a:t>   - SHUFFLE (orange)</a:t>
            </a: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  <a:r>
              <a:t>   - WHEEL (ungu)</a:t>
            </a: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  <a:r>
              <a:t>3. E-Voucher selalu aktif</a:t>
            </a: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  <a:r>
              <a:t>4. Shuffle &amp; Wheel aktif</a:t>
            </a: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  <a:r>
              <a:t>   setelah E-Voucher selesai</a:t>
            </a: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  <a:r>
              <a:t>5. Tombol hasil untuk</a:t>
            </a: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  <a:r>
              <a:t>   melihat pemenang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0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37160"/>
            <a:ext cx="7315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LANGKAH 3: E-VOUCHER - PREVIEW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914400"/>
            <a:ext cx="7315200" cy="5486400"/>
          </a:xfrm>
          <a:prstGeom prst="roundRect">
            <a:avLst/>
          </a:prstGeom>
          <a:solidFill>
            <a:srgbClr val="F5F5F5"/>
          </a:solidFill>
          <a:ln>
            <a:solidFill>
              <a:srgbClr val="9E9E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188720"/>
            <a:ext cx="6949440" cy="54864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0"/>
            <a:ext cx="69494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🎁 UNDIAN E-VOUCHER - 700 HADIAH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920240"/>
            <a:ext cx="1645920" cy="1097280"/>
          </a:xfrm>
          <a:prstGeom prst="roundRect">
            <a:avLst/>
          </a:prstGeom>
          <a:solidFill>
            <a:srgbClr val="FFFFFF"/>
          </a:solidFill>
          <a:ln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19" y="2103120"/>
            <a:ext cx="14630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4CAF50"/>
                </a:solidFill>
              </a:defRPr>
            </a:pPr>
            <a:r>
              <a:t>TOKOPEDIA</a:t>
            </a:r>
          </a:p>
          <a:p>
            <a:pPr algn="ctr">
              <a:defRPr sz="1000">
                <a:solidFill>
                  <a:srgbClr val="212121"/>
                </a:solidFill>
              </a:defRPr>
            </a:pPr>
            <a:r>
              <a:t>Rp.100.000</a:t>
            </a:r>
            <a:br/>
            <a:r>
              <a:t>175 pemenang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377440" y="1920240"/>
            <a:ext cx="1645920" cy="1097280"/>
          </a:xfrm>
          <a:prstGeom prst="roundRect">
            <a:avLst/>
          </a:prstGeom>
          <a:solidFill>
            <a:srgbClr val="FFFFFF"/>
          </a:solidFill>
          <a:ln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468880" y="2103120"/>
            <a:ext cx="14630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4CAF50"/>
                </a:solidFill>
              </a:defRPr>
            </a:pPr>
            <a:r>
              <a:t>INDOMARET</a:t>
            </a:r>
          </a:p>
          <a:p>
            <a:pPr algn="ctr">
              <a:defRPr sz="1000">
                <a:solidFill>
                  <a:srgbClr val="212121"/>
                </a:solidFill>
              </a:defRPr>
            </a:pPr>
            <a:r>
              <a:t>Rp.100.000</a:t>
            </a:r>
            <a:br/>
            <a:r>
              <a:t>175 pemenang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0" y="1920240"/>
            <a:ext cx="1645920" cy="1097280"/>
          </a:xfrm>
          <a:prstGeom prst="roundRect">
            <a:avLst/>
          </a:prstGeom>
          <a:solidFill>
            <a:srgbClr val="FFFFFF"/>
          </a:solidFill>
          <a:ln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06240" y="2103120"/>
            <a:ext cx="14630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4CAF50"/>
                </a:solidFill>
              </a:defRPr>
            </a:pPr>
            <a:r>
              <a:t>BENSIN</a:t>
            </a:r>
          </a:p>
          <a:p>
            <a:pPr algn="ctr">
              <a:defRPr sz="1000">
                <a:solidFill>
                  <a:srgbClr val="212121"/>
                </a:solidFill>
              </a:defRPr>
            </a:pPr>
            <a:r>
              <a:t>Rp.100.000</a:t>
            </a:r>
            <a:br/>
            <a:r>
              <a:t>175 pemenang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852160" y="1920240"/>
            <a:ext cx="1645920" cy="1097280"/>
          </a:xfrm>
          <a:prstGeom prst="roundRect">
            <a:avLst/>
          </a:prstGeom>
          <a:solidFill>
            <a:srgbClr val="FFFFFF"/>
          </a:solidFill>
          <a:ln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0" y="2103120"/>
            <a:ext cx="14630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4CAF50"/>
                </a:solidFill>
              </a:defRPr>
            </a:pPr>
            <a:r>
              <a:t>SNL</a:t>
            </a:r>
          </a:p>
          <a:p>
            <a:pPr algn="ctr">
              <a:defRPr sz="1000">
                <a:solidFill>
                  <a:srgbClr val="212121"/>
                </a:solidFill>
              </a:defRPr>
            </a:pPr>
            <a:r>
              <a:t>Rp.100.000</a:t>
            </a:r>
            <a:br/>
            <a:r>
              <a:t>175 pemenang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371600" y="3291840"/>
            <a:ext cx="5029200" cy="45720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71600" y="3383280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🎲 MULAI UNDIAN E-VOUCHER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55279" y="914400"/>
            <a:ext cx="4023360" cy="5486400"/>
          </a:xfrm>
          <a:prstGeom prst="roundRect">
            <a:avLst/>
          </a:prstGeom>
          <a:solidFill>
            <a:srgbClr val="FFFFFF"/>
          </a:solidFill>
          <a:ln>
            <a:solidFill>
              <a:srgbClr val="9E9E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38160" y="1097280"/>
            <a:ext cx="3657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4CAF50"/>
                </a:solidFill>
              </a:defRPr>
            </a:pPr>
            <a:r>
              <a:t>Keterangan: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8160" y="1554480"/>
            <a:ext cx="3657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  <a:r>
              <a:t>Preview E-Voucher:</a:t>
            </a: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  <a:r>
              <a:t>1. 4 kategori hadiah:</a:t>
            </a: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  <a:r>
              <a:t>   - Tokopedia Rp.100.000</a:t>
            </a: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  <a:r>
              <a:t>   - Indomaret Rp.100.000</a:t>
            </a: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  <a:r>
              <a:t>   - Bensin Rp.100.000</a:t>
            </a: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  <a:r>
              <a:t>   - SNL Rp.100.000</a:t>
            </a: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  <a:r>
              <a:t>2. Masing-masing 175 pemenang</a:t>
            </a: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  <a:r>
              <a:t>3. Total 700 pemenang</a:t>
            </a: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  <a:r>
              <a:t>4. Klik tombol hijau</a:t>
            </a: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  <a:r>
              <a:t>   untuk mulai undian</a:t>
            </a: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  <a:r>
              <a:t>5. Animasi cascade akan</a:t>
            </a: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  <a:r>
              <a:t>   menampilkan pemenang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0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37160"/>
            <a:ext cx="7315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LANGKAH 3: E-VOUCHER - ANIMASI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914400"/>
            <a:ext cx="7315200" cy="5486400"/>
          </a:xfrm>
          <a:prstGeom prst="roundRect">
            <a:avLst/>
          </a:prstGeom>
          <a:solidFill>
            <a:srgbClr val="F5F5F5"/>
          </a:solidFill>
          <a:ln>
            <a:solidFill>
              <a:srgbClr val="9E9E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188720"/>
            <a:ext cx="6949440" cy="54864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0"/>
            <a:ext cx="69494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🎁 MENGUNDI 700 PEMENANG...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920240"/>
            <a:ext cx="69494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>
                <a:solidFill>
                  <a:srgbClr val="212121"/>
                </a:solidFill>
              </a:defRPr>
            </a:pPr>
            <a:r>
              <a:t>Animasi cascade menampilkan semua pemenang: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560320"/>
            <a:ext cx="1371600" cy="1097280"/>
          </a:xfrm>
          <a:prstGeom prst="roundRect">
            <a:avLst/>
          </a:prstGeom>
          <a:solidFill>
            <a:srgbClr val="FFFFFF"/>
          </a:solidFill>
          <a:ln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19" y="2743200"/>
            <a:ext cx="11887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4CAF50"/>
                </a:solidFill>
              </a:defRPr>
            </a:pPr>
            <a:r>
              <a:t>#1: 0234</a:t>
            </a:r>
          </a:p>
          <a:p>
            <a:pPr algn="ctr">
              <a:defRPr sz="1000">
                <a:solidFill>
                  <a:srgbClr val="212121"/>
                </a:solidFill>
              </a:defRPr>
            </a:pPr>
            <a:r>
              <a:t>Ahmad H.</a:t>
            </a:r>
            <a:br/>
            <a:r>
              <a:t>Tokopedia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03120" y="2560320"/>
            <a:ext cx="1371600" cy="1097280"/>
          </a:xfrm>
          <a:prstGeom prst="roundRect">
            <a:avLst/>
          </a:prstGeom>
          <a:solidFill>
            <a:srgbClr val="FFFFFF"/>
          </a:solidFill>
          <a:ln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94560" y="2743200"/>
            <a:ext cx="11887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4CAF50"/>
                </a:solidFill>
              </a:defRPr>
            </a:pPr>
            <a:r>
              <a:t>#2: 1567</a:t>
            </a:r>
          </a:p>
          <a:p>
            <a:pPr algn="ctr">
              <a:defRPr sz="1000">
                <a:solidFill>
                  <a:srgbClr val="212121"/>
                </a:solidFill>
              </a:defRPr>
            </a:pPr>
            <a:r>
              <a:t>Budi S.</a:t>
            </a:r>
            <a:br/>
            <a:r>
              <a:t>Tokopedia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66160" y="2560320"/>
            <a:ext cx="1371600" cy="1097280"/>
          </a:xfrm>
          <a:prstGeom prst="roundRect">
            <a:avLst/>
          </a:prstGeom>
          <a:solidFill>
            <a:srgbClr val="FFFFFF"/>
          </a:solidFill>
          <a:ln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0" y="2743200"/>
            <a:ext cx="11887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4CAF50"/>
                </a:solidFill>
              </a:defRPr>
            </a:pPr>
            <a:r>
              <a:t>#3: 0891</a:t>
            </a:r>
          </a:p>
          <a:p>
            <a:pPr algn="ctr">
              <a:defRPr sz="1000">
                <a:solidFill>
                  <a:srgbClr val="212121"/>
                </a:solidFill>
              </a:defRPr>
            </a:pPr>
            <a:r>
              <a:t>Citra D.</a:t>
            </a:r>
            <a:br/>
            <a:r>
              <a:t>Indomaret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0" y="2560320"/>
            <a:ext cx="1371600" cy="1097280"/>
          </a:xfrm>
          <a:prstGeom prst="roundRect">
            <a:avLst/>
          </a:prstGeom>
          <a:solidFill>
            <a:srgbClr val="FFFFFF"/>
          </a:solidFill>
          <a:ln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0" y="2743200"/>
            <a:ext cx="11887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4CAF50"/>
                </a:solidFill>
              </a:defRPr>
            </a:pPr>
            <a:r>
              <a:t>#4: 2345</a:t>
            </a:r>
          </a:p>
          <a:p>
            <a:pPr algn="ctr">
              <a:defRPr sz="1000">
                <a:solidFill>
                  <a:srgbClr val="212121"/>
                </a:solidFill>
              </a:defRPr>
            </a:pPr>
            <a:r>
              <a:t>Dian P.</a:t>
            </a:r>
            <a:br/>
            <a:r>
              <a:t>Indomaret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92240" y="2560320"/>
            <a:ext cx="1371600" cy="1097280"/>
          </a:xfrm>
          <a:prstGeom prst="roundRect">
            <a:avLst/>
          </a:prstGeom>
          <a:solidFill>
            <a:srgbClr val="FFFFFF"/>
          </a:solidFill>
          <a:ln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79" y="2743200"/>
            <a:ext cx="11887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4CAF50"/>
                </a:solidFill>
              </a:defRPr>
            </a:pPr>
            <a:r>
              <a:t>#5: 0123</a:t>
            </a:r>
          </a:p>
          <a:p>
            <a:pPr algn="ctr">
              <a:defRPr sz="1000">
                <a:solidFill>
                  <a:srgbClr val="212121"/>
                </a:solidFill>
              </a:defRPr>
            </a:pPr>
            <a:r>
              <a:t>Eko P.</a:t>
            </a:r>
            <a:br/>
            <a:r>
              <a:t>Bensin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55279" y="914400"/>
            <a:ext cx="4023360" cy="5486400"/>
          </a:xfrm>
          <a:prstGeom prst="roundRect">
            <a:avLst/>
          </a:prstGeom>
          <a:solidFill>
            <a:srgbClr val="FFFFFF"/>
          </a:solidFill>
          <a:ln>
            <a:solidFill>
              <a:srgbClr val="9E9E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38160" y="1097280"/>
            <a:ext cx="3657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4CAF50"/>
                </a:solidFill>
              </a:defRPr>
            </a:pPr>
            <a:r>
              <a:t>Keterangan: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38160" y="1554480"/>
            <a:ext cx="3657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  <a:r>
              <a:t>Proses Undian E-Voucher:</a:t>
            </a: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  <a:r>
              <a:t>1. Progress bar menunjukkan</a:t>
            </a: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  <a:r>
              <a:t>   proses shuffle</a:t>
            </a: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  <a:r>
              <a:t>2. Animasi cascade</a:t>
            </a: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  <a:r>
              <a:t>   menampilkan pemenang</a:t>
            </a: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  <a:r>
              <a:t>   satu per satu</a:t>
            </a: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  <a:r>
              <a:t>3. Setiap kartu berisi:</a:t>
            </a: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  <a:r>
              <a:t>   - Nomor urut</a:t>
            </a: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  <a:r>
              <a:t>   - Nomor undian</a:t>
            </a: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  <a:r>
              <a:t>   - Nama peserta</a:t>
            </a: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  <a:r>
              <a:t>   - Kategori hadiah</a:t>
            </a: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  <a:r>
              <a:t>4. 700 pemenang ditampilkan</a:t>
            </a: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  <a:r>
              <a:t>5. Setelah selesai:</a:t>
            </a: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  <a:r>
              <a:t>   Download Excel/PPT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0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37160"/>
            <a:ext cx="7315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LANGKAH 4: SHUFFLE - 3 SESI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914400"/>
            <a:ext cx="7315200" cy="5486400"/>
          </a:xfrm>
          <a:prstGeom prst="roundRect">
            <a:avLst/>
          </a:prstGeom>
          <a:solidFill>
            <a:srgbClr val="F5F5F5"/>
          </a:solidFill>
          <a:ln>
            <a:solidFill>
              <a:srgbClr val="9E9E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188720"/>
            <a:ext cx="6949440" cy="54864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0"/>
            <a:ext cx="69494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🔀 UNDIAN SHUFFLE - 90 HADIAH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920240"/>
            <a:ext cx="69494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>
                <a:solidFill>
                  <a:srgbClr val="9E9E9E"/>
                </a:solidFill>
              </a:defRPr>
            </a:pPr>
            <a:r>
              <a:t>Sesi: 0/3 | Sisa: 2707 peserta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560320"/>
            <a:ext cx="2103120" cy="1097280"/>
          </a:xfrm>
          <a:prstGeom prst="roundRect">
            <a:avLst/>
          </a:prstGeom>
          <a:solidFill>
            <a:srgbClr val="FFFFFF"/>
          </a:solidFill>
          <a:ln>
            <a:solidFill>
              <a:srgbClr val="FF9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19" y="2743200"/>
            <a:ext cx="1920239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FF9800"/>
                </a:solidFill>
              </a:defRPr>
            </a:pPr>
            <a:r>
              <a:t>SESI 1</a:t>
            </a:r>
          </a:p>
          <a:p>
            <a:pPr algn="ctr">
              <a:defRPr sz="1000">
                <a:solidFill>
                  <a:srgbClr val="212121"/>
                </a:solidFill>
              </a:defRPr>
            </a:pPr>
            <a:r>
              <a:t>30 Hadiah</a:t>
            </a:r>
            <a:br/>
            <a:r>
              <a:t>[Input nama hadiah]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26080" y="2560320"/>
            <a:ext cx="2103120" cy="1097280"/>
          </a:xfrm>
          <a:prstGeom prst="roundRect">
            <a:avLst/>
          </a:prstGeom>
          <a:solidFill>
            <a:srgbClr val="FFFFFF"/>
          </a:solidFill>
          <a:ln>
            <a:solidFill>
              <a:srgbClr val="9E9E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17520" y="2743200"/>
            <a:ext cx="1920239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9E9E9E"/>
                </a:solidFill>
              </a:defRPr>
            </a:pPr>
            <a:r>
              <a:t>SESI 2</a:t>
            </a:r>
          </a:p>
          <a:p>
            <a:pPr algn="ctr">
              <a:defRPr sz="1000">
                <a:solidFill>
                  <a:srgbClr val="212121"/>
                </a:solidFill>
              </a:defRPr>
            </a:pPr>
            <a:r>
              <a:t>30 Hadiah</a:t>
            </a:r>
            <a:br/>
            <a:r>
              <a:t>Menunggu Sesi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12080" y="2560320"/>
            <a:ext cx="2103120" cy="1097280"/>
          </a:xfrm>
          <a:prstGeom prst="roundRect">
            <a:avLst/>
          </a:prstGeom>
          <a:solidFill>
            <a:srgbClr val="FFFFFF"/>
          </a:solidFill>
          <a:ln>
            <a:solidFill>
              <a:srgbClr val="9E9E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520" y="2743200"/>
            <a:ext cx="1920239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9E9E9E"/>
                </a:solidFill>
              </a:defRPr>
            </a:pPr>
            <a:r>
              <a:t>SESI 3</a:t>
            </a:r>
          </a:p>
          <a:p>
            <a:pPr algn="ctr">
              <a:defRPr sz="1000">
                <a:solidFill>
                  <a:srgbClr val="212121"/>
                </a:solidFill>
              </a:defRPr>
            </a:pPr>
            <a:r>
              <a:t>30 Hadiah</a:t>
            </a:r>
            <a:br/>
            <a:r>
              <a:t>Menunggu Sesi 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371600" y="3931920"/>
            <a:ext cx="5029200" cy="45720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4023360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🎰 PUTAR UNDIAN SESI 1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55279" y="914400"/>
            <a:ext cx="4023360" cy="5486400"/>
          </a:xfrm>
          <a:prstGeom prst="roundRect">
            <a:avLst/>
          </a:prstGeom>
          <a:solidFill>
            <a:srgbClr val="FFFFFF"/>
          </a:solidFill>
          <a:ln>
            <a:solidFill>
              <a:srgbClr val="9E9E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8160" y="1097280"/>
            <a:ext cx="3657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9800"/>
                </a:solidFill>
              </a:defRPr>
            </a:pPr>
            <a:r>
              <a:t>Keterangan: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8160" y="1554480"/>
            <a:ext cx="3657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  <a:r>
              <a:t>Mode Shuffle:</a:t>
            </a: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  <a:r>
              <a:t>1. 3 sesi pengundian</a:t>
            </a: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  <a:r>
              <a:t>   (masing-masing 30 hadiah)</a:t>
            </a: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  <a:r>
              <a:t>2. Setiap sesi:</a:t>
            </a: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  <a:r>
              <a:t>   - Input nama hadiah</a:t>
            </a: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  <a:r>
              <a:t>   - Klik PUTAR UNDIAN</a:t>
            </a: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  <a:r>
              <a:t>   - Animasi slot-machine</a:t>
            </a: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  <a:r>
              <a:t>   - 30 pemenang muncul</a:t>
            </a: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  <a:r>
              <a:t>3. Sesi berurutan</a:t>
            </a: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  <a:r>
              <a:t>   (harus selesai Sesi 1</a:t>
            </a: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  <a:r>
              <a:t>   untuk lanjut Sesi 2)</a:t>
            </a: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  <a:r>
              <a:t>4. Download per sesi</a:t>
            </a: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  <a:r>
              <a:t>   atau gabungan</a:t>
            </a: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  <a:r>
              <a:t>5. Total 90 pemenang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0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37160"/>
            <a:ext cx="7315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LANGKAH 4: SHUFFLE - ANIMASI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914400"/>
            <a:ext cx="7315200" cy="5486400"/>
          </a:xfrm>
          <a:prstGeom prst="roundRect">
            <a:avLst/>
          </a:prstGeom>
          <a:solidFill>
            <a:srgbClr val="F5F5F5"/>
          </a:solidFill>
          <a:ln>
            <a:solidFill>
              <a:srgbClr val="9E9E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188720"/>
            <a:ext cx="6949440" cy="54864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0"/>
            <a:ext cx="69494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🎰 SESI 1: DOORPRIZE SPESIAL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371600" y="1920240"/>
            <a:ext cx="5029200" cy="1828800"/>
          </a:xfrm>
          <a:prstGeom prst="round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2194560"/>
            <a:ext cx="5029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00FF88"/>
                </a:solidFill>
              </a:defRPr>
            </a:pPr>
            <a:r>
              <a:t>2847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3017520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9E9E9E"/>
                </a:solidFill>
              </a:defRPr>
            </a:pPr>
            <a:r>
              <a:t>1523 / 2707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828800" y="3383280"/>
            <a:ext cx="4114800" cy="137160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828800" y="3383280"/>
            <a:ext cx="2286000" cy="137160"/>
          </a:xfrm>
          <a:prstGeom prst="roundRect">
            <a:avLst/>
          </a:prstGeom>
          <a:solidFill>
            <a:srgbClr val="00FF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4023360"/>
            <a:ext cx="69494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">
                <a:solidFill>
                  <a:srgbClr val="9E9E9E"/>
                </a:solidFill>
              </a:defRPr>
            </a:pPr>
            <a:r>
              <a:t>Animasi menampilkan semua nomor peserta sisa secara berurutan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55279" y="914400"/>
            <a:ext cx="4023360" cy="5486400"/>
          </a:xfrm>
          <a:prstGeom prst="roundRect">
            <a:avLst/>
          </a:prstGeom>
          <a:solidFill>
            <a:srgbClr val="FFFFFF"/>
          </a:solidFill>
          <a:ln>
            <a:solidFill>
              <a:srgbClr val="9E9E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60" y="1097280"/>
            <a:ext cx="3657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9800"/>
                </a:solidFill>
              </a:defRPr>
            </a:pPr>
            <a:r>
              <a:t>Keterangan: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60" y="1554480"/>
            <a:ext cx="3657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  <a:r>
              <a:t>Animasi Shuffle:</a:t>
            </a: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  <a:r>
              <a:t>1. Badge menunjukkan</a:t>
            </a: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  <a:r>
              <a:t>   total peserta sisa</a:t>
            </a: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  <a:r>
              <a:t>2. Nomor ditampilkan</a:t>
            </a: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  <a:r>
              <a:t>   secara BERURUTAN</a:t>
            </a: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  <a:r>
              <a:t>   (bukan random sampling)</a:t>
            </a: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  <a:r>
              <a:t>3. Counter real-time:</a:t>
            </a: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  <a:r>
              <a:t>   '1523 / 2707'</a:t>
            </a: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  <a:r>
              <a:t>4. Progress bar mengikuti</a:t>
            </a: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  <a:r>
              <a:t>   nomor yang sudah lewat</a:t>
            </a: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  <a:r>
              <a:t>5. Kecepatan:</a:t>
            </a: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  <a:r>
              <a:t>   - Cepat di awal</a:t>
            </a: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  <a:r>
              <a:t>   - Melambat di akhir</a:t>
            </a: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  <a:r>
              <a:t>6. Berhenti di pemenang</a:t>
            </a: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  <a:r>
              <a:t>   dengan warna emas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0"/>
          </a:xfrm>
          <a:prstGeom prst="rect">
            <a:avLst/>
          </a:prstGeom>
          <a:solidFill>
            <a:srgbClr val="9C27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37160"/>
            <a:ext cx="7315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LANGKAH 5: WHEEL - 10 GRAND PRIZE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914400"/>
            <a:ext cx="7315200" cy="5486400"/>
          </a:xfrm>
          <a:prstGeom prst="roundRect">
            <a:avLst/>
          </a:prstGeom>
          <a:solidFill>
            <a:srgbClr val="F5F5F5"/>
          </a:solidFill>
          <a:ln>
            <a:solidFill>
              <a:srgbClr val="9E9E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188720"/>
            <a:ext cx="6949440" cy="548640"/>
          </a:xfrm>
          <a:prstGeom prst="roundRect">
            <a:avLst/>
          </a:prstGeom>
          <a:solidFill>
            <a:srgbClr val="9C27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0"/>
            <a:ext cx="69494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🎡 HADIAH UTAMA - 10 GRAND PRIZE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920240"/>
            <a:ext cx="69494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>
                <a:solidFill>
                  <a:srgbClr val="9E9E9E"/>
                </a:solidFill>
              </a:defRPr>
            </a:pPr>
            <a:r>
              <a:t>Progress: ▶1  2  3  4  5  6  7  8  9  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560320"/>
            <a:ext cx="1371600" cy="1097280"/>
          </a:xfrm>
          <a:prstGeom prst="roundRect">
            <a:avLst/>
          </a:prstGeom>
          <a:solidFill>
            <a:srgbClr val="FFFFFF"/>
          </a:solidFill>
          <a:ln>
            <a:solidFill>
              <a:srgbClr val="9C27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19" y="2743200"/>
            <a:ext cx="11887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9C27B0"/>
                </a:solidFill>
              </a:defRPr>
            </a:pPr>
            <a:r>
              <a:t>#1</a:t>
            </a:r>
          </a:p>
          <a:p>
            <a:pPr algn="ctr">
              <a:defRPr sz="1000">
                <a:solidFill>
                  <a:srgbClr val="212121"/>
                </a:solidFill>
              </a:defRPr>
            </a:pPr>
            <a:r>
              <a:t>Blender</a:t>
            </a:r>
            <a:br/>
            <a:r>
              <a:t>Rp.300.000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03120" y="2560320"/>
            <a:ext cx="1371600" cy="1097280"/>
          </a:xfrm>
          <a:prstGeom prst="roundRect">
            <a:avLst/>
          </a:prstGeom>
          <a:solidFill>
            <a:srgbClr val="FFFFFF"/>
          </a:solidFill>
          <a:ln>
            <a:solidFill>
              <a:srgbClr val="9C27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94560" y="2743200"/>
            <a:ext cx="11887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9C27B0"/>
                </a:solidFill>
              </a:defRPr>
            </a:pPr>
            <a:r>
              <a:t>#2</a:t>
            </a:r>
          </a:p>
          <a:p>
            <a:pPr algn="ctr">
              <a:defRPr sz="1000">
                <a:solidFill>
                  <a:srgbClr val="212121"/>
                </a:solidFill>
              </a:defRPr>
            </a:pPr>
            <a:r>
              <a:t>Rice Cooker</a:t>
            </a:r>
            <a:br/>
            <a:r>
              <a:t>Rp.500.000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66160" y="2560320"/>
            <a:ext cx="914400" cy="1097280"/>
          </a:xfrm>
          <a:prstGeom prst="roundRect">
            <a:avLst/>
          </a:prstGeom>
          <a:solidFill>
            <a:srgbClr val="FFFFFF"/>
          </a:solidFill>
          <a:ln>
            <a:solidFill>
              <a:srgbClr val="9E9E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0" y="2743200"/>
            <a:ext cx="7315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9E9E9E"/>
                </a:solidFill>
              </a:defRPr>
            </a:pPr>
            <a:r>
              <a:t>...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0" y="2560320"/>
            <a:ext cx="1645920" cy="1097280"/>
          </a:xfrm>
          <a:prstGeom prst="roundRect">
            <a:avLst/>
          </a:prstGeom>
          <a:solidFill>
            <a:srgbClr val="FFFFFF"/>
          </a:solidFill>
          <a:ln>
            <a:solidFill>
              <a:srgbClr val="E91E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63440" y="2743200"/>
            <a:ext cx="14630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E91E63"/>
                </a:solidFill>
              </a:defRPr>
            </a:pPr>
            <a:r>
              <a:t>#10</a:t>
            </a:r>
          </a:p>
          <a:p>
            <a:pPr algn="ctr">
              <a:defRPr sz="1000">
                <a:solidFill>
                  <a:srgbClr val="212121"/>
                </a:solidFill>
              </a:defRPr>
            </a:pPr>
            <a:r>
              <a:t>LED TV 43"</a:t>
            </a:r>
            <a:br/>
            <a:r>
              <a:t>Rp.5.000.000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371600" y="3931920"/>
            <a:ext cx="5029200" cy="457200"/>
          </a:xfrm>
          <a:prstGeom prst="roundRect">
            <a:avLst/>
          </a:prstGeom>
          <a:solidFill>
            <a:srgbClr val="9C27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71600" y="4023360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🎡 PUTAR UNDIAN!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55279" y="914400"/>
            <a:ext cx="4023360" cy="5486400"/>
          </a:xfrm>
          <a:prstGeom prst="roundRect">
            <a:avLst/>
          </a:prstGeom>
          <a:solidFill>
            <a:srgbClr val="FFFFFF"/>
          </a:solidFill>
          <a:ln>
            <a:solidFill>
              <a:srgbClr val="9E9E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38160" y="1097280"/>
            <a:ext cx="3657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9C27B0"/>
                </a:solidFill>
              </a:defRPr>
            </a:pPr>
            <a:r>
              <a:t>Keterangan: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38160" y="1554480"/>
            <a:ext cx="3657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  <a:r>
              <a:t>Mode Wheel:</a:t>
            </a: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  <a:r>
              <a:t>1. 10 Grand Prize</a:t>
            </a: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  <a:r>
              <a:t>   (termurah → termahal)</a:t>
            </a: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  <a:r>
              <a:t>2. Konfigurasi hadiah:</a:t>
            </a: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  <a:r>
              <a:t>   - No</a:t>
            </a: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  <a:r>
              <a:t>   - Nama Hadiah</a:t>
            </a: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  <a:r>
              <a:t>   - Keterangan</a:t>
            </a: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  <a:r>
              <a:t>3. Urutan penting:</a:t>
            </a: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  <a:r>
              <a:t>   LED TV sebagai</a:t>
            </a: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  <a:r>
              <a:t>   hadiah terakhir (klimaks)</a:t>
            </a: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  <a:r>
              <a:t>4. Setiap spin:</a:t>
            </a: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  <a:r>
              <a:t>   - Animasi penuh</a:t>
            </a: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  <a:r>
              <a:t>   - Semua nomor diundi</a:t>
            </a: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  <a:r>
              <a:t>   - Transparansi penuh</a:t>
            </a: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  <a:r>
              <a:t>5. Progress bar 1-10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0"/>
          </a:xfrm>
          <a:prstGeom prst="rect">
            <a:avLst/>
          </a:prstGeom>
          <a:solidFill>
            <a:srgbClr val="9C27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37160"/>
            <a:ext cx="7315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LANGKAH 5: WHEEL - ANIMASI TRANSPARAN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914400"/>
            <a:ext cx="7315200" cy="5486400"/>
          </a:xfrm>
          <a:prstGeom prst="roundRect">
            <a:avLst/>
          </a:prstGeom>
          <a:solidFill>
            <a:srgbClr val="F5F5F5"/>
          </a:solidFill>
          <a:ln>
            <a:solidFill>
              <a:srgbClr val="9E9E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188720"/>
            <a:ext cx="6949440" cy="548640"/>
          </a:xfrm>
          <a:prstGeom prst="roundRect">
            <a:avLst/>
          </a:prstGeom>
          <a:solidFill>
            <a:srgbClr val="9C27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0"/>
            <a:ext cx="69494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Mengundi dari 2617 peserta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371600" y="1920240"/>
            <a:ext cx="5029200" cy="1828800"/>
          </a:xfrm>
          <a:prstGeom prst="round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2194560"/>
            <a:ext cx="5029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00FF88"/>
                </a:solidFill>
              </a:defRPr>
            </a:pPr>
            <a:r>
              <a:t>03997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3017520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9E9E9E"/>
                </a:solidFill>
              </a:defRPr>
            </a:pPr>
            <a:r>
              <a:t>2617 / 2617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828800" y="3383280"/>
            <a:ext cx="4114800" cy="137160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828800" y="3383280"/>
            <a:ext cx="4114800" cy="137160"/>
          </a:xfrm>
          <a:prstGeom prst="roundRect">
            <a:avLst/>
          </a:prstGeom>
          <a:solidFill>
            <a:srgbClr val="00FF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371600" y="4023360"/>
            <a:ext cx="5029200" cy="10972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71600" y="4160520"/>
            <a:ext cx="5029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🎉 PEMENANG #1</a:t>
            </a:r>
          </a:p>
          <a:p>
            <a:pPr algn="ctr">
              <a:defRPr sz="2800" b="1">
                <a:solidFill>
                  <a:srgbClr val="FFFFFF"/>
                </a:solidFill>
              </a:defRPr>
            </a:pPr>
            <a:r>
              <a:t>03997</a:t>
            </a:r>
          </a:p>
          <a:p>
            <a:pPr algn="ctr">
              <a:defRPr sz="1200">
                <a:solidFill>
                  <a:srgbClr val="FFFFFF"/>
                </a:solidFill>
              </a:defRPr>
            </a:pPr>
            <a:r>
              <a:t>Budi Santoso | ****7890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55279" y="914400"/>
            <a:ext cx="4023360" cy="5486400"/>
          </a:xfrm>
          <a:prstGeom prst="roundRect">
            <a:avLst/>
          </a:prstGeom>
          <a:solidFill>
            <a:srgbClr val="FFFFFF"/>
          </a:solidFill>
          <a:ln>
            <a:solidFill>
              <a:srgbClr val="9E9E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38160" y="1097280"/>
            <a:ext cx="3657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9C27B0"/>
                </a:solidFill>
              </a:defRPr>
            </a:pPr>
            <a:r>
              <a:t>Keterangan: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8160" y="1554480"/>
            <a:ext cx="3657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  <a:r>
              <a:t>Transparansi Wheel:</a:t>
            </a: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  <a:r>
              <a:t>1. Badge 'Mengundi dari</a:t>
            </a: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  <a:r>
              <a:t>   X peserta' menunjukkan</a:t>
            </a: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  <a:r>
              <a:t>   total pool sisa</a:t>
            </a: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  <a:r>
              <a:t>2. Animasi sequential:</a:t>
            </a: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  <a:r>
              <a:t>   Semua nomor ditampilkan</a:t>
            </a: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  <a:r>
              <a:t>   satu per satu</a:t>
            </a: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  <a:r>
              <a:t>3. Counter: '1/2617',</a:t>
            </a: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  <a:r>
              <a:t>   '2/2617', dst</a:t>
            </a: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  <a:r>
              <a:t>4. Penonton melihat</a:t>
            </a: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  <a:r>
              <a:t>   SETIAP nomor diundi</a:t>
            </a: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  <a:r>
              <a:t>5. Pemenang ditampilkan:</a:t>
            </a: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  <a:r>
              <a:t>   - Nomor undian</a:t>
            </a: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  <a:r>
              <a:t>   - Nama lengkap</a:t>
            </a: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  <a:r>
              <a:t>   - No HP (masked)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0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37160"/>
            <a:ext cx="7315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LANGKAH 6: VALIDASI &amp; DOWNLOAD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914400"/>
            <a:ext cx="7315200" cy="5486400"/>
          </a:xfrm>
          <a:prstGeom prst="roundRect">
            <a:avLst/>
          </a:prstGeom>
          <a:solidFill>
            <a:srgbClr val="F5F5F5"/>
          </a:solidFill>
          <a:ln>
            <a:solidFill>
              <a:srgbClr val="9E9E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188720"/>
            <a:ext cx="6949440" cy="54864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0"/>
            <a:ext cx="69494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🏆 SELESAI - 10/10 HADIAH TERPILIH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920240"/>
            <a:ext cx="69494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600">
                <a:solidFill>
                  <a:srgbClr val="212121"/>
                </a:solidFill>
              </a:defRPr>
            </a:pPr>
            <a:r>
              <a:t>Validasi dan download hasil undian: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2286000" cy="45720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743200"/>
            <a:ext cx="2286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✅ VALIDASI DUPLIKAT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017520" y="3291839"/>
            <a:ext cx="2286000" cy="457200"/>
          </a:xfrm>
          <a:prstGeom prst="roundRect">
            <a:avLst/>
          </a:prstGeom>
          <a:solidFill>
            <a:srgbClr val="2196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17520" y="3383279"/>
            <a:ext cx="2286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📊 EXCEL LENGKAP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94960" y="3931920"/>
            <a:ext cx="2286000" cy="45720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94960" y="4023359"/>
            <a:ext cx="2286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📽️ PPT LENGKAP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029200"/>
            <a:ext cx="69494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>
                <a:solidFill>
                  <a:srgbClr val="4CAF50"/>
                </a:solidFill>
              </a:defRPr>
            </a:pPr>
            <a:r>
              <a:t>✅ Validasi: Tidak ada duplikat di 800 pemenang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55279" y="914400"/>
            <a:ext cx="4023360" cy="5486400"/>
          </a:xfrm>
          <a:prstGeom prst="roundRect">
            <a:avLst/>
          </a:prstGeom>
          <a:solidFill>
            <a:srgbClr val="FFFFFF"/>
          </a:solidFill>
          <a:ln>
            <a:solidFill>
              <a:srgbClr val="9E9E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38160" y="1097280"/>
            <a:ext cx="3657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4CAF50"/>
                </a:solidFill>
              </a:defRPr>
            </a:pPr>
            <a:r>
              <a:t>Keterangan: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38160" y="1554480"/>
            <a:ext cx="3657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  <a:r>
              <a:t>Validasi &amp; Download:</a:t>
            </a: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  <a:r>
              <a:t>1. VALIDASI DUPLIKAT</a:t>
            </a: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  <a:r>
              <a:t>   - Cek semua tahap</a:t>
            </a: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  <a:r>
              <a:t>   - Pastikan tidak ada</a:t>
            </a: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  <a:r>
              <a:t>     nomor menang 2x</a:t>
            </a: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  <a:r>
              <a:t>2. EXCEL LENGKAP</a:t>
            </a: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  <a:r>
              <a:t>   - Semua pemenang</a:t>
            </a: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  <a:r>
              <a:t>   - Sheet per tahap</a:t>
            </a: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  <a:r>
              <a:t>   - Detail lengkap</a:t>
            </a: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  <a:r>
              <a:t>3. PPT LENGKAP</a:t>
            </a: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  <a:r>
              <a:t>   - Slide per tahap</a:t>
            </a: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  <a:r>
              <a:t>   - Siap presentasi</a:t>
            </a: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  <a:r>
              <a:t>4. Auto-save aktif</a:t>
            </a: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  <a:r>
              <a:t>   - Backup lokal</a:t>
            </a: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  <a:r>
              <a:t>   - Backup Google Drive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91E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11274552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</a:defRPr>
            </a:pPr>
            <a:r>
              <a:t>MOVE &amp; GROOVE 2024</a:t>
            </a:r>
          </a:p>
          <a:p>
            <a:pPr algn="ctr">
              <a:defRPr sz="2800">
                <a:solidFill>
                  <a:srgbClr val="FFFFFF"/>
                </a:solidFill>
              </a:defRPr>
            </a:pPr>
            <a:r>
              <a:t>Selamat Mengundi! 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